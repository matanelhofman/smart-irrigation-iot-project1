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MatanelHofman/Smart-Irrigation-IoT-Projec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254F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4173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השקיה חכמה מבוססת IoT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5146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i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Irrigation IoT System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4348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מתנאל הופמן, 213378060</a:t>
            </a:r>
            <a:endParaRPr lang="en-US" sz="1600" dirty="0"/>
          </a:p>
          <a:p>
            <a:pPr rtl="1" algn="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רועי בנימינוביץ', 322659376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קורס: פיתוח תוכנה למערכות IoT בסביבת עיר חכמה   |   מרצה: יורי יורצ'נקו</a:t>
            </a:r>
            <a:endParaRPr lang="en-US" sz="1400" dirty="0"/>
          </a:p>
          <a:p>
            <a:pPr rtl="1" algn="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המכון הטכנולוגי חולון (HIT)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הבעיה ומטרת הפרויקט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5B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Goal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8595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השקיה ידנית של גינה היא לא יעילה - קל לשכוח להשקות, או להשקות יותר מדי בלי קשר ללחות הקרקע בפועל.</a:t>
            </a:r>
            <a:endParaRPr lang="en-US" sz="1800" dirty="0"/>
          </a:p>
          <a:p>
            <a:pPr rtl="1" algn="r" marL="228600" indent="-2286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המטרה שלנו: לבנות מערכת שמדמה חיישני טמפרטורה, לחות אוויר ולחות קרקע, ומקבלת מהם נתונים דרך MQTT.</a:t>
            </a:r>
            <a:endParaRPr lang="en-US" sz="1800" dirty="0"/>
          </a:p>
          <a:p>
            <a:pPr rtl="1" algn="r" marL="228600" indent="-2286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המערכת מחליטה באופן אוטומטי מתי להפעיל ומתי לכבות משאבת השקיה מדומה, לפי כללים פשוטים וברורים.</a:t>
            </a:r>
            <a:endParaRPr lang="en-US" sz="1800" dirty="0"/>
          </a:p>
          <a:p>
            <a:pPr rtl="1" algn="r" marL="228600" indent="-2286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בכל רגע אפשר לעבור למצב ידני ולשלוט על המשאבה בעצמנו, דרך כפתור בקרה ייעודי.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921240" y="1828800"/>
            <a:ext cx="1463040" cy="1463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921240" y="18288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דרישות ומטרות המערכת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5B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Objectives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תקשורת מבוססת MQTT, גרסה 3.1.1, ברמת QoS 1.</a:t>
            </a:r>
            <a:endParaRPr lang="en-US" sz="1700" dirty="0"/>
          </a:p>
          <a:p>
            <a:pPr rtl="1" algn="r"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מתווך Mosquitto מקומי, שרץ בתוך קונטיינר Docker.</a:t>
            </a:r>
            <a:endParaRPr lang="en-US" sz="1700" dirty="0"/>
          </a:p>
          <a:p>
            <a:pPr rtl="1" algn="r"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מסד נתונים מקומי מבוסס SQLite לשמירת כל הנתונים וההיסטוריה.</a:t>
            </a:r>
            <a:endParaRPr lang="en-US" sz="1700" dirty="0"/>
          </a:p>
          <a:p>
            <a:pPr rtl="1" algn="r"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ממשקי משתמש ב-Tkinter, כולל גרף חי המבוסס על Matplotlib.</a:t>
            </a:r>
            <a:endParaRPr lang="en-US" sz="1700" dirty="0"/>
          </a:p>
          <a:p>
            <a:pPr rtl="1" algn="r"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בחרנו במכוון שלא להשתמש בבינה מלאכותית, בענן או ב-API של מזג אוויר - המטרה היא מערכת פשוטה שקל להריץ, להדגים ולהסביר בכיתה.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ארכיטקטורת המערכת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5B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052560" y="160020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97BC62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0" y="16002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DHT Emulator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052560" y="256032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97BC62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052560" y="25603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Soil Moisture Knob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052560" y="352044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97BC62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052560" y="3520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Button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052560" y="448056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97BC62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052560" y="4480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Pump Relay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74920" y="260604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74920" y="26060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Broker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(Mosquitto)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160020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16002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Manager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(rule engine)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288036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D9E4D9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8803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Database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397764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97BC62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9776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GUI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(Smart Irrigation Dashboard)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60920" y="2743200"/>
            <a:ext cx="1600200" cy="365760"/>
          </a:xfrm>
          <a:prstGeom prst="leftRightArrow">
            <a:avLst/>
          </a:prstGeom>
          <a:solidFill>
            <a:srgbClr val="5B6B5C"/>
          </a:solidFill>
          <a:ln/>
        </p:spPr>
      </p:sp>
      <p:sp>
        <p:nvSpPr>
          <p:cNvPr id="21" name="Shape 19"/>
          <p:cNvSpPr/>
          <p:nvPr/>
        </p:nvSpPr>
        <p:spPr>
          <a:xfrm>
            <a:off x="3611880" y="2377440"/>
            <a:ext cx="1371600" cy="365760"/>
          </a:xfrm>
          <a:prstGeom prst="leftRightArrow">
            <a:avLst/>
          </a:prstGeom>
          <a:solidFill>
            <a:srgbClr val="5B6B5C"/>
          </a:solidFill>
          <a:ln/>
        </p:spPr>
      </p:sp>
      <p:sp>
        <p:nvSpPr>
          <p:cNvPr id="22" name="Shape 20"/>
          <p:cNvSpPr/>
          <p:nvPr/>
        </p:nvSpPr>
        <p:spPr>
          <a:xfrm>
            <a:off x="3611880" y="4206240"/>
            <a:ext cx="1371600" cy="365760"/>
          </a:xfrm>
          <a:prstGeom prst="leftRightArrow">
            <a:avLst/>
          </a:prstGeom>
          <a:solidFill>
            <a:srgbClr val="5B6B5C"/>
          </a:solidFill>
          <a:ln/>
        </p:spPr>
      </p:sp>
      <p:sp>
        <p:nvSpPr>
          <p:cNvPr id="23" name="Shape 21"/>
          <p:cNvSpPr/>
          <p:nvPr/>
        </p:nvSpPr>
        <p:spPr>
          <a:xfrm>
            <a:off x="1920240" y="2523744"/>
            <a:ext cx="365760" cy="329184"/>
          </a:xfrm>
          <a:prstGeom prst="downArrow">
            <a:avLst/>
          </a:prstGeom>
          <a:solidFill>
            <a:srgbClr val="5B6B5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" y="5212080"/>
            <a:ext cx="10835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התקשורת בין האמולטורים, מנהל הנתונים והממשק הראשי עוברת אך ורק דרך מתווך ה-MQTT.</a:t>
            </a:r>
            <a:endParaRPr lang="en-US" sz="1400" dirty="0"/>
          </a:p>
          <a:p>
            <a:pPr rtl="1" algn="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מנהל הנתונים הוא הרכיב היחיד שכותב למסד הנתונים; הממשק הראשי קורא גם נתונים חיים וגם היסטוריה.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וזרימת הנתונים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5B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&amp; Data Flow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הנושאים נמצאים תחת קידומת קבועה אחת: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6035040" cy="502920"/>
          </a:xfrm>
          <a:prstGeom prst="roundRect">
            <a:avLst/>
          </a:prstGeom>
          <a:solidFill>
            <a:srgbClr val="EFF5E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smart_irrigation/matanel_roy/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743200"/>
          <a:ext cx="6035040" cy="283464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</a:tblGrid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Published by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Topic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DHT Emulator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sensors/dht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Soil Moisture Knob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sensors/soil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Button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control/mode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Manager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actuators/pump/command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Pump Relay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actuators/pump/state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49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Manager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status/events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178040" y="1600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 להודעת חיישן DHT: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178040" y="2011680"/>
            <a:ext cx="4206240" cy="2286000"/>
          </a:xfrm>
          <a:prstGeom prst="roundRect">
            <a:avLst/>
          </a:prstGeom>
          <a:solidFill>
            <a:srgbClr val="1E262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360920" y="2148840"/>
            <a:ext cx="384048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7F5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7F5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"device_id": "dht-01",</a:t>
            </a:r>
            <a:endParaRPr lang="en-US" sz="12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7F5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"temperature": 27.4,</a:t>
            </a:r>
            <a:endParaRPr lang="en-US" sz="12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7F5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"humidity": 54.1,</a:t>
            </a:r>
            <a:endParaRPr lang="en-US" sz="12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7F5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"timestamp":</a:t>
            </a:r>
            <a:endParaRPr lang="en-US" sz="12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7F5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"2026-01-01T12:00:00Z"</a:t>
            </a:r>
            <a:endParaRPr lang="en-US" sz="12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7F5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178040" y="45262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הודעות מצב ופקודות לפעיל נשלחות עם retain=true, כדי שכל רכיב חדש יקבל מיד את המצב האחרון.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ארבעת האמולטורים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5B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Emulators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21240" y="1600200"/>
            <a:ext cx="822960" cy="8229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92124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55448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אמולטור DHT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901952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משדר טמפרטורה ולחות אוויר המשתנות בהדרגה כל 2 שניות, עם חלון Tkinter קטן וכפתורי Start/Stop.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921240" y="2770632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21240" y="27706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SOIL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72491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כפתור לחות קרקע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072384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סליידר בין 0 ל-100 אחוז; כל שינוי משודר מיד, ומוצג מצב Dry / Normal / Wet.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921240" y="3941064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921240" y="394106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895344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כפתור בקרה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242816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מעבר בין מצב אוטומטי לידני, ושליחת פקודות הדלקה/כיבוי למשאבה במצב ידני בלבד.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921240" y="5111496"/>
            <a:ext cx="822960" cy="822960"/>
          </a:xfrm>
          <a:prstGeom prst="ellipse">
            <a:avLst/>
          </a:prstGeom>
          <a:solidFill>
            <a:srgbClr val="6E8B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921240" y="511149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PUMP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65776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ממסר משאבה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413248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מאזין לפקודות, מציג ON/OFF, Mode ו-Reason, ומשדר אישור וheartbeat תקופתי.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מנהל הנתונים ומנוע הכללים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5B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Manager &amp; Rule Engine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מתחבר למתווך, אוסף את כל ההודעות, ומוודא שכל הודעה היא JSON תקין - הודעה פגומה מתועדת ומדולגת, בלי לקרוס.</a:t>
            </a:r>
            <a:endParaRPr lang="en-US" sz="1500" dirty="0"/>
          </a:p>
          <a:p>
            <a:pPr rtl="1" algn="r"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שומר כל קריאה, אירוע ושינוי מצב פעיל במסד ה-SQLite.</a:t>
            </a:r>
            <a:endParaRPr lang="en-US" sz="1500" dirty="0"/>
          </a:p>
          <a:p>
            <a:pPr rtl="1" algn="r"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במצב ידני, פקודות המשתמש תמיד גוברות על האוטומציה.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429000"/>
          <a:ext cx="7498080" cy="210312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237744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לחות קרקע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רמה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משאבה (אוטומטי)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 - 20%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23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ALARM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21% - 35%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97A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WARNING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36% - 44%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אזור היסטרזיס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ללא שינוי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45%+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C5F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22960" y="57150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i="1" dirty="0">
                <a:solidFill>
                  <a:srgbClr val="5B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טמפרטורה 32 מעלות ומעלה מוסיפה תמיד התראת WARNING נוספת.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ומבנה הנתונים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5B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&amp; Data Structure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מסד נתונים מקומי, נוצר אוטומטית בהפעלה הראשונה, במצב WAL לתמיכה בגישה בו-זמנית מכמה חוטים.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3337560" cy="3291840"/>
          </a:xfrm>
          <a:prstGeom prst="roundRect">
            <a:avLst/>
          </a:prstGeom>
          <a:solidFill>
            <a:srgbClr val="F7FAF7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40280"/>
            <a:ext cx="3337560" cy="5943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24028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readings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01752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2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2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2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device_id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2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2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2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2240280"/>
            <a:ext cx="3337560" cy="3291840"/>
          </a:xfrm>
          <a:prstGeom prst="roundRect">
            <a:avLst/>
          </a:prstGeom>
          <a:solidFill>
            <a:srgbClr val="F7FAF7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2240280"/>
            <a:ext cx="3337560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34840" y="224028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01752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2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2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2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2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2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2240280"/>
            <a:ext cx="3337560" cy="3291840"/>
          </a:xfrm>
          <a:prstGeom prst="roundRect">
            <a:avLst/>
          </a:prstGeom>
          <a:solidFill>
            <a:srgbClr val="F7FAF7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2240280"/>
            <a:ext cx="3337560" cy="5943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224028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actuator_states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301752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2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2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2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actuator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2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2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B2B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הממשק הראשי - Smart Irrigation Dashboard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5B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GUI</a:t>
            </a:r>
            <a:endParaRPr lang="en-US" sz="1400" dirty="0"/>
          </a:p>
        </p:txBody>
      </p:sp>
      <p:pic>
        <p:nvPicPr>
          <p:cNvPr id="4" name="Image 0" descr="/home/user/Smart-Irrigation-IoT-Project/docs/screenshots/03_dashboard_warning_state.png">    </p:cNvPr>
          <p:cNvPicPr>
            <a:picLocks noChangeAspect="1"/>
          </p:cNvPicPr>
          <p:nvPr/>
        </p:nvPicPr>
        <p:blipFill>
          <a:blip r:embed="rId1"/>
          <a:srcRect l="0" r="0" t="-17647" b="-17647"/>
          <a:stretch/>
        </p:blipFill>
        <p:spPr>
          <a:xfrm>
            <a:off x="4892040" y="1508760"/>
            <a:ext cx="6583680" cy="4800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600200"/>
            <a:ext cx="4023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מצב חיבור MQTT ומצב מסד הנתונים.</a:t>
            </a:r>
            <a:endParaRPr lang="en-US" sz="1400" dirty="0"/>
          </a:p>
          <a:p>
            <a:pPr rtl="1" algn="r" marL="228600" indent="-2286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טמפרטורה, לחות אוויר ולחות קרקע בזמן אמת.</a:t>
            </a:r>
            <a:endParaRPr lang="en-US" sz="1400" dirty="0"/>
          </a:p>
          <a:p>
            <a:pPr rtl="1" algn="r" marL="228600" indent="-2286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מצב המשאבה והמצב התפעולי (אוטומטי / ידני).</a:t>
            </a:r>
            <a:endParaRPr lang="en-US" sz="1400" dirty="0"/>
          </a:p>
          <a:p>
            <a:pPr rtl="1" algn="r" marL="228600" indent="-2286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מצב כללי צבוע: ירוק ל-INFO, כתום ל-WARNING, אדום ל-ALARM.</a:t>
            </a:r>
            <a:endParaRPr lang="en-US" sz="1400" dirty="0"/>
          </a:p>
          <a:p>
            <a:pPr rtl="1" algn="r" marL="228600" indent="-228600"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גרף מדידות אחרונות ויומן אירועים, עם כפתור Refresh.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תרחישי זרימה מפורטים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5B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Detailed Flow Scenarios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4663440"/>
          </a:xfrm>
          <a:prstGeom prst="roundRect">
            <a:avLst/>
          </a:prstGeom>
          <a:solidFill>
            <a:srgbClr val="F7FAF7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תרחיש 1: השקיה אוטומטית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86000"/>
            <a:ext cx="4892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לחות קרקע 55% -&gt; INFO, משאבה כבויה.</a:t>
            </a:r>
            <a:endParaRPr lang="en-US" sz="1350" dirty="0"/>
          </a:p>
          <a:p>
            <a:pPr rtl="1" algn="r" marL="228600" indent="-2286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הורדה ל-30% -&gt; WARNING, משאבה נדלקת.</a:t>
            </a:r>
            <a:endParaRPr lang="en-US" sz="1350" dirty="0"/>
          </a:p>
          <a:p>
            <a:pPr rtl="1" algn="r" marL="228600" indent="-2286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הורדה ל-15% -&gt; ALARM (אדום).</a:t>
            </a:r>
            <a:endParaRPr lang="en-US" sz="1350" dirty="0"/>
          </a:p>
          <a:p>
            <a:pPr rtl="1" algn="r" marL="228600" indent="-2286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עלייה ל-50% -&gt; INFO, משאבה כבית מעצמה.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349240" cy="4663440"/>
          </a:xfrm>
          <a:prstGeom prst="roundRect">
            <a:avLst/>
          </a:prstGeom>
          <a:solidFill>
            <a:srgbClr val="F1F6FA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17373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תרחיש 2: בקרה ידנית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286000"/>
            <a:ext cx="4892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לחיצה על כפתור הבקרה ומעבר למצב MANUAL.</a:t>
            </a:r>
            <a:endParaRPr lang="en-US" sz="1350" dirty="0"/>
          </a:p>
          <a:p>
            <a:pPr rtl="1" algn="r" marL="228600" indent="-2286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לחיצה על Pump ON - הממסר וה-Dashboard מציגים מיד Pump ON.</a:t>
            </a:r>
            <a:endParaRPr lang="en-US" sz="1350" dirty="0"/>
          </a:p>
          <a:p>
            <a:pPr rtl="1" algn="r" marL="228600" indent="-2286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לחיצה על Pump OFF - חזרה מיידית למצב כבוי.</a:t>
            </a:r>
            <a:endParaRPr lang="en-US" sz="1350" dirty="0"/>
          </a:p>
          <a:p>
            <a:pPr rtl="1" algn="r" marL="228600" indent="-2286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הסיבה שמוצגת: "Manual command from Control Button".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הדגמה וקישורים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5B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&amp; Links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916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בשלב הזה מוצגת הדגמה חיה קצרה של המערכת פועלת (ראו docs/demo_script_he.md לתסריט המלא).</a:t>
            </a:r>
            <a:endParaRPr lang="en-US" sz="1500" dirty="0"/>
          </a:p>
          <a:p>
            <a:pPr rtl="1" algn="r"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התרחיש המלא - שינוי לחות קרקע, מעבר בין רמות INFO/WARNING/ALARM, ומעבר למצב ידני - לוקח כ-90 עד 120 שניות.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429000"/>
            <a:ext cx="10515600" cy="640080"/>
          </a:xfrm>
          <a:prstGeom prst="roundRect">
            <a:avLst/>
          </a:prstGeom>
          <a:solidFill>
            <a:srgbClr val="EFF5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342900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</a:t>
            </a:r>
            <a:pPr algn="l" indent="0" marL="0">
              <a:buNone/>
            </a:pPr>
            <a:r>
              <a:rPr lang="en-US" sz="1500" u="sng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https://github.com/MatanelHofman/Smart-Irrigation-IoT-Project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251960"/>
            <a:ext cx="10515600" cy="640080"/>
          </a:xfrm>
          <a:prstGeom prst="roundRect">
            <a:avLst/>
          </a:prstGeom>
          <a:solidFill>
            <a:srgbClr val="FCF3E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425196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9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סרטון הדגמה קצר: </a:t>
            </a:r>
            <a:pPr rtl="1" algn="r" indent="0" marL="0">
              <a:buNone/>
            </a:pPr>
            <a:r>
              <a:rPr lang="en-US" sz="150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[ADD_DEMO_VIDEO_LINK]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5074920"/>
            <a:ext cx="10515600" cy="640080"/>
          </a:xfrm>
          <a:prstGeom prst="roundRect">
            <a:avLst/>
          </a:prstGeom>
          <a:solidFill>
            <a:srgbClr val="FCF3E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50749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9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הקלטת המצגת המלאה: </a:t>
            </a:r>
            <a:pPr rtl="1" algn="r" indent="0" marL="0">
              <a:buNone/>
            </a:pPr>
            <a:r>
              <a:rPr lang="en-US" sz="1500" dirty="0">
                <a:solidFill>
                  <a:srgbClr val="1B2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[ADD_PRESENTATION_RECORDING_LINK]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סיכום, מסקנות ומקורות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863840" y="1417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863840" y="1874520"/>
            <a:ext cx="36576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03200" indent="-2032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בנינו מערכת IoT מלאה: קליטת נתונים, החלטה אוטומטית לפי כללים, שמירה במסד נתונים ובקרה ידנית - הכול דרך MQTT.</a:t>
            </a:r>
            <a:endParaRPr lang="en-US" sz="1250" dirty="0"/>
          </a:p>
          <a:p>
            <a:pPr rtl="1" algn="r" marL="203200" indent="-2032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המערכת נבדקה בהרצה מלאה: 37 בדיקות pytest עוברות, ומעברי משאבה OFF-ON-OFF אמיתיים תועדו במסד הנתונים.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114800" y="1417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מגבלות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874520"/>
            <a:ext cx="36576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03200" indent="-2032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החיישנים הם אמולטורים בתוכנה, לא חומרה פיזית.</a:t>
            </a:r>
            <a:endParaRPr lang="en-US" sz="1250" dirty="0"/>
          </a:p>
          <a:p>
            <a:pPr rtl="1" algn="r" marL="203200" indent="-2032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אין ענן, אין למידת מכונה - מערכת מקומית לצורכי לימוד.</a:t>
            </a:r>
            <a:endParaRPr lang="en-US" sz="1250" dirty="0"/>
          </a:p>
          <a:p>
            <a:pPr rtl="1" algn="r" marL="203200" indent="-2032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לשיפור עתידי: חיישנים אמיתיים, מספר גינות, והתראות מרחוק.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4173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מקורות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1874520"/>
            <a:ext cx="3566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03200" indent="-2032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Eclipse Mosquitto Documentation, mosquitto.org</a:t>
            </a:r>
            <a:endParaRPr lang="en-US" sz="1250" dirty="0"/>
          </a:p>
          <a:p>
            <a:pPr rtl="1" algn="r" marL="203200" indent="-2032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Eclipse Paho MQTT Python Client Documentation</a:t>
            </a:r>
            <a:endParaRPr lang="en-US" sz="1250" dirty="0"/>
          </a:p>
          <a:p>
            <a:pPr rtl="1" algn="r" marL="203200" indent="-2032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Version 3.1.1 Specification, OASIS</a:t>
            </a:r>
            <a:endParaRPr lang="en-US" sz="1250" dirty="0"/>
          </a:p>
          <a:p>
            <a:pPr rtl="1" algn="r" marL="203200" indent="-2032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Documentation, sqlite.org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תודה רבה על ההקשבה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2026-09-19T22:30:54Z</dcterms:created>
  <dcterms:modified xsi:type="dcterms:W3CDTF">2026-09-19T22:30:54Z</dcterms:modified>
</cp:coreProperties>
</file>